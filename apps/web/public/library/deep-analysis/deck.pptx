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COV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8200" y="20116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"/>
            <a:ext cx="1874520" cy="4727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QUIO_MASTER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28016"/>
            <a:ext cx="1005840" cy="2542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288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Marketplace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$269M GMV with Health &amp; Beauty Emerging as Highest-Margin Category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0584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Multi-Category Performance Analysis  ·  Q1 2025 – Q1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Board Strategy Review · April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reached $269M (+22% YoY) but Fashion return rates at 16.8% are eroding contribution margins across Europe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2103120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210312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11556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GMV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1208" y="12801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$269M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166420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+22.4% vs 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79192" y="1024128"/>
            <a:ext cx="2103120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1024128"/>
            <a:ext cx="2103120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11556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ORDERS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788920" y="12801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2.56M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88920" y="166420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+18.6% vs 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46904" y="1024128"/>
            <a:ext cx="2103120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6904" y="1024128"/>
            <a:ext cx="2103120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6" name="Text 14"/>
          <p:cNvSpPr/>
          <p:nvPr/>
        </p:nvSpPr>
        <p:spPr>
          <a:xfrm>
            <a:off x="5056632" y="111556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SELLERS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056632" y="12801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56632" y="166420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+24.2% vs 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14616" y="1024128"/>
            <a:ext cx="2103120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1024128"/>
            <a:ext cx="2103120" cy="36576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7324344" y="111556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BUYERS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24344" y="12801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7.86M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24344" y="166420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+16.8% vs PY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482328" y="1024128"/>
            <a:ext cx="2103120" cy="868680"/>
          </a:xfrm>
          <a:prstGeom prst="rect">
            <a:avLst>
              <a:gd name="adj" fmla="val 6316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82328" y="1024128"/>
            <a:ext cx="2103120" cy="36576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26" name="Text 24"/>
          <p:cNvSpPr/>
          <p:nvPr/>
        </p:nvSpPr>
        <p:spPr>
          <a:xfrm>
            <a:off x="9592056" y="111556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MARGIN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592056" y="128016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92056" y="1664208"/>
            <a:ext cx="18836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-0.8pp vs 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2011680"/>
            <a:ext cx="11064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The marketplace processed $269M in GMV across Electronics, Home &amp; Living, Fashion, and Health categories in Q1 2026, up 22% YoY with strong buyer acquisition across all regions.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COMPLICATION: Average contribution margin declined 0.8pp to 17.5%. Fashion's 16.8% return rate in Europe drives $6.9M in reverse logistics costs quarterly. Health &amp; Beauty at 20%+ margins is underinvested.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Should the platform shift investment from high-GMV/low-margin Fashion toward high-margin Health &amp; Beauty, or can Fashion economics be fixed in place?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Both — tighten Fashion size guidance to cut returns 30% (saving $2.1M/Q) while accelerating Health seller onboarding to reach $50M GMV by Q4 2026.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 contribution margin (21.8%) is 1.6x Fashion (14.0%). Every $1M GMV shift from Fashion to Health adds $78K quarterly profit.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dominates at 37% of GMV but Health &amp; Beauty is the only category improving margins YoY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0604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2606040" cy="36576"/>
          </a:xfrm>
          <a:prstGeom prst="rect">
            <a:avLst/>
          </a:prstGeom>
          <a:solidFill>
            <a:srgbClr val="F0CC27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6070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ELECTRONICS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21208" y="12252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mix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261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$98.6M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005840"/>
            <a:ext cx="260604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06070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&amp; LIVING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355848" y="12252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 mix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1261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$56.2M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0604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005840"/>
            <a:ext cx="2606040" cy="36576"/>
          </a:xfrm>
          <a:prstGeom prst="rect">
            <a:avLst/>
          </a:prstGeom>
          <a:solidFill>
            <a:srgbClr val="9B7AE0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488" y="106070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FASHION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0488" y="12252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mix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1261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$71.6M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005840"/>
            <a:ext cx="260604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1005840"/>
            <a:ext cx="2606040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21" name="Text 19"/>
          <p:cNvSpPr/>
          <p:nvPr/>
        </p:nvSpPr>
        <p:spPr>
          <a:xfrm>
            <a:off x="9025128" y="1060704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&amp; BEAUTY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025128" y="12252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 mix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95560" y="1261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$42.8M</a:t>
            </a:r>
            <a:endParaRPr lang="en-US" sz="1000" dirty="0"/>
          </a:p>
        </p:txBody>
      </p:sp>
      <p:pic>
        <p:nvPicPr>
          <p:cNvPr id="24" name="Image 0" descr="/Users/marcodicesare/conductor/workspaces/basquio/port-louis/test-output/demo-decks/charts/10s_stacked_gm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0"/>
            <a:ext cx="5943600" cy="34747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58368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Trajectory by Category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83680" y="219456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Electronics: Stable at 19-21%. Laptop margins improving as sellers shift to higher-ASP models.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Living: Improving +1.2pp YoY from reduced fulfillment costs (smaller parcel mix shifting toward Kitchen).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Fashion: Declining -1.2pp due to return rate spike in European Apparel (18.4% → 16.8% but still highest).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Beauty: Best-in-class at 21.8%, improving +1.2pp YoY. Supplements repeat rate at 69.8% drives low acquisition cost.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11480" y="55321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9436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 has the highest repeat rate (67.6%), lowest return rate (4.6%), and highest margin (21.8%). It should be the primary investment target.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TRAJECTORY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grew 22% YoY to $269M but Q1 2026 seasonally normalized after Q4 peak — underlying trend is +6.2% QoQ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0s_gmv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112471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" y="55321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 is the only category that did NOT decline from Q4 to Q1 (flat at $42.8M). It is becoming the platform's counter-cyclical anchor.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0584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Deep Dives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rate economics, seller concentration, and regional performance by category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3566160"/>
            <a:ext cx="228600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RATE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returns cost $6.9M/quarter — 3.6x more than Electronics despite similar GMV, driven by apparel sizing failures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0s_return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7607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Diagnosis: Sizing Problem, Not Quality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92240" y="160020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Fashion returns cite 'wrong size' — not defects, style, or quality. This is a solvable data problem.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AI size recommendation (based on purchase history + brand calibration) reduced returns 31% in a competitor's pilot.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current Fashion GMV of $71.6M with 16.8% return rate, a 30% reduction saves $2.1M/quarter in reverse logistics.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 return rate (4.6% blended) validates that repeat-purchase categories have structurally lower returns.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92240" y="4434840"/>
            <a:ext cx="160020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4434840"/>
            <a:ext cx="1600200" cy="36576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9" name="Text 6"/>
          <p:cNvSpPr/>
          <p:nvPr/>
        </p:nvSpPr>
        <p:spPr>
          <a:xfrm>
            <a:off x="6565392" y="4498848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FASHION RETURN COST / Q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565392" y="4681728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$6.9M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75320" y="4434840"/>
            <a:ext cx="160020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75320" y="4434840"/>
            <a:ext cx="1600200" cy="36576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13" name="Text 10"/>
          <p:cNvSpPr/>
          <p:nvPr/>
        </p:nvSpPr>
        <p:spPr>
          <a:xfrm>
            <a:off x="8348472" y="4498848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ELECTRONICS COST / Q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8348472" y="4681728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058400" y="4434840"/>
            <a:ext cx="1600200" cy="731520"/>
          </a:xfrm>
          <a:prstGeom prst="rect">
            <a:avLst>
              <a:gd name="adj" fmla="val 7500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58400" y="4434840"/>
            <a:ext cx="1600200" cy="36576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7" name="Text 14"/>
          <p:cNvSpPr/>
          <p:nvPr/>
        </p:nvSpPr>
        <p:spPr>
          <a:xfrm>
            <a:off x="10131552" y="4498848"/>
            <a:ext cx="144475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D65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COST / Q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10131552" y="4681728"/>
            <a:ext cx="1444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411480" y="548640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9436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AI size guidance on Fashion would save $8.4M annually in reverse logistics — the single highest-ROI initiative identified.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&amp; Returns Database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ECONOMICS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sellers generate 1.4x more ad revenue per dollar GMV than Electronics, with 58% lower churn</a:t>
            </a:r>
            <a:endParaRPr lang="en-US" sz="2000" dirty="0"/>
          </a:p>
        </p:txBody>
      </p:sp>
      <p:pic>
        <p:nvPicPr>
          <p:cNvPr id="4" name="Image 0" descr="/Users/marcodicesare/conductor/workspaces/basquio/port-louis/test-output/demo-decks/charts/10s_ad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486400" cy="3474720"/>
          </a:xfrm>
          <a:prstGeom prst="rect">
            <a:avLst/>
          </a:prstGeom>
        </p:spPr>
      </p:pic>
      <p:pic>
        <p:nvPicPr>
          <p:cNvPr id="5" name="Image 1" descr="/Users/marcodicesare/conductor/workspaces/basquio/port-louis/test-output/demo-decks/charts/10s_seller_ch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486400" cy="3474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1480" y="493776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594360" y="4983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has the best unit economics: highest ad revenue ($37.2K/$1M GMV), competitive churn (7.7%), and 69.8% buyer repeat rate. Triple seller acquisition investment.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Health &amp; Beauty outperforms all other region-category combinations on margin (+20%) and repeat rate (65%)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1155680" cy="384048"/>
          </a:xfrm>
          <a:prstGeom prst="rect">
            <a:avLst/>
          </a:prstGeom>
          <a:solidFill>
            <a:srgbClr val="0B0C0C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" y="105156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× Category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27832" y="10515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($M)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73752" y="10515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YoY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19672" y="105156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82712" y="105156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28632" y="105156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435608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1810512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" y="143560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· Electronics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27832" y="143560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$98.6M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73752" y="143560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+22.3%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19672" y="143560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82712" y="143560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28632" y="143560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819656"/>
            <a:ext cx="1115568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2194560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1819656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· Home &amp; Living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27832" y="18196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$33.4M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3752" y="18196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+16.8%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19672" y="181965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82712" y="181965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28632" y="181965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203704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28" name="Shape 26"/>
          <p:cNvSpPr/>
          <p:nvPr/>
        </p:nvSpPr>
        <p:spPr>
          <a:xfrm>
            <a:off x="411480" y="2578608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" y="2203704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· Health &amp; Beauty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27832" y="220370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$20.2M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73752" y="220370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+42.3%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9672" y="2203704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82712" y="220370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628632" y="2203704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69.8%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587752"/>
            <a:ext cx="1115568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2962656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" y="2587752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· Home &amp; Living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27832" y="2587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$22.8M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73752" y="2587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+23.9%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19672" y="2587752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82712" y="2587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628632" y="2587752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40.1%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71800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3346704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" y="2971800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· Fashion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27832" y="2971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$41.2M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73752" y="2971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+20.5%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519672" y="29718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82712" y="2971800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628632" y="297180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58.2%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55848"/>
            <a:ext cx="11155680" cy="384048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52" name="Shape 50"/>
          <p:cNvSpPr/>
          <p:nvPr/>
        </p:nvSpPr>
        <p:spPr>
          <a:xfrm>
            <a:off x="411480" y="3730752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" y="3355848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· Fashion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27832" y="335584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$30.4M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73752" y="335584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+35.7%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19672" y="335584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982712" y="335584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628632" y="335584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51.8%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739896"/>
            <a:ext cx="11155680" cy="384048"/>
          </a:xfrm>
          <a:prstGeom prst="rect">
            <a:avLst/>
          </a:prstGeom>
          <a:solidFill>
            <a:srgbClr val="FBF8F1"/>
          </a:solidFill>
          <a:ln/>
        </p:spPr>
      </p:sp>
      <p:sp>
        <p:nvSpPr>
          <p:cNvPr id="60" name="Shape 58"/>
          <p:cNvSpPr/>
          <p:nvPr/>
        </p:nvSpPr>
        <p:spPr>
          <a:xfrm>
            <a:off x="411480" y="4114800"/>
            <a:ext cx="11155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61" name="Text 59"/>
          <p:cNvSpPr/>
          <p:nvPr/>
        </p:nvSpPr>
        <p:spPr>
          <a:xfrm>
            <a:off x="484632" y="3739896"/>
            <a:ext cx="2670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· Health &amp; Beauty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27832" y="37398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$22.6M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73752" y="37398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+34.5%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519672" y="3739896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982712" y="3739896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628632" y="3739896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75488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94360" y="4800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highest-margin cells (NA Health 23.6%, APAC Health 20.0%, NA Electronics 20.6%) should receive 60%+ of incremental seller acquisition budget.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structural insights that should reshape the platform's 2026-2027 investment thesis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520440" cy="5486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C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 margin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Beauty is the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highest-quality GMV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 contribution margin, 67.6% repeat rate, 4.6% return rate. Every $1M GMV in Health generates $78K more quarterly profit than Fashion. Target: 25%+ of GMV by Q4 2027.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051560"/>
            <a:ext cx="3520440" cy="54864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3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$27.6M annual drag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0" y="1874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returns are an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unstainable cost center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69748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16.8% return rate and $71.6M quarterly GMV, Fashion generates $6.9M/Q in reverse logistics. 72% of returns are sizing-related. AI size recommendation saves $8.4M/year.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1051560"/>
            <a:ext cx="3520440" cy="457200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051560"/>
            <a:ext cx="3520440" cy="54864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YoY growth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83880" y="1874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is the growth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for 2027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269748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grew 50% YoY across all categories with enterprise-grade unit economics: $65+ AOV in Shoes, 20% margin in Health, 51-65% repeat rates. Target: 25%+ of GMV by 2027.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Q1 2025 – Q1 2026 | All Regions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11064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actions to add $14.2M annual profit: fix Fashion returns, invest in Health sellers, and expand APAC coverage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520440" cy="448056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51560"/>
            <a:ext cx="3520440" cy="54864"/>
          </a:xfrm>
          <a:prstGeom prst="rect">
            <a:avLst/>
          </a:prstGeom>
          <a:solidFill>
            <a:srgbClr val="E8636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E8636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AI Size Guidance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Fashion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of Fashion returns cite wrong sizing. Deploy ML-based size recommendation using purchase history and brand calibration. 30% return reduction = $8.4M/year saved in reverse logistics.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461772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436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69164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+$8.4M/yr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892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8892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1051560"/>
            <a:ext cx="3520440" cy="448056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051560"/>
            <a:ext cx="3520440" cy="54864"/>
          </a:xfrm>
          <a:prstGeom prst="rect">
            <a:avLst/>
          </a:prstGeom>
          <a:solidFill>
            <a:srgbClr val="4CC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4CC9A0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Health &amp; Beauty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Acquisition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19202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sellers have the best unit economics: 21.8% margin, 67.6% repeat, 4.6% returns. Triple seller acquisition spend from $200K to $600K/Q. Target: 1,500 new Health sellers by Q4.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0" y="461772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38912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+$3.2M/yr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58368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01000" y="1051560"/>
            <a:ext cx="3520440" cy="4480560"/>
          </a:xfrm>
          <a:prstGeom prst="rect">
            <a:avLst>
              <a:gd name="adj" fmla="val 2078"/>
            </a:avLst>
          </a:prstGeom>
          <a:solidFill>
            <a:srgbClr val="FBF8F1"/>
          </a:solidFill>
          <a:ln w="6350">
            <a:solidFill>
              <a:srgbClr val="D6D1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051560"/>
            <a:ext cx="3520440" cy="54864"/>
          </a:xfrm>
          <a:prstGeom prst="rect">
            <a:avLst/>
          </a:prstGeom>
          <a:solidFill>
            <a:srgbClr val="1A6AFF"/>
          </a:solidFill>
          <a:ln/>
        </p:spPr>
      </p:sp>
      <p:sp>
        <p:nvSpPr>
          <p:cNvPr id="32" name="Shape 30"/>
          <p:cNvSpPr/>
          <p:nvPr/>
        </p:nvSpPr>
        <p:spPr>
          <a:xfrm>
            <a:off x="8183880" y="1280160"/>
            <a:ext cx="411480" cy="411480"/>
          </a:xfrm>
          <a:prstGeom prst="rect">
            <a:avLst>
              <a:gd name="adj" fmla="val 13333"/>
            </a:avLst>
          </a:prstGeom>
          <a:solidFill>
            <a:srgbClr val="1A6AFF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1280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0" y="12344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APAC Fulfillment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in Singapore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83880" y="1920240"/>
            <a:ext cx="315468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5D6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fulfillment costs are 18% above NA due to cross-border routing. A Singapore hub cuts fulfillment cost 22% on $53M annual APAC GMV, improving margins 1.4pp.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83880" y="4617720"/>
            <a:ext cx="3154680" cy="9144"/>
          </a:xfrm>
          <a:prstGeom prst="rect">
            <a:avLst/>
          </a:prstGeom>
          <a:solidFill>
            <a:srgbClr val="D6D1C4"/>
          </a:solidFill>
          <a:ln/>
        </p:spPr>
      </p:sp>
      <p:sp>
        <p:nvSpPr>
          <p:cNvPr id="37" name="Text 35"/>
          <p:cNvSpPr/>
          <p:nvPr/>
        </p:nvSpPr>
        <p:spPr>
          <a:xfrm>
            <a:off x="818388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18388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928116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+$2.6M/yr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78440" y="4727448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378440" y="4910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2027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" y="5760720"/>
            <a:ext cx="11338560" cy="457200"/>
          </a:xfrm>
          <a:prstGeom prst="rect">
            <a:avLst>
              <a:gd name="adj" fmla="val 12000"/>
            </a:avLst>
          </a:prstGeom>
          <a:solidFill>
            <a:srgbClr val="1A6AFF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B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annualized profit improvement: $14.2M. Fashion returns fix is highest ROI and fastest to deploy. Health investment is highest long-term value.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64008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Marketplace Ledger | Financial Model | Q1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537960"/>
            <a:ext cx="487375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2026-04-09T09:01:18Z</dcterms:created>
  <dcterms:modified xsi:type="dcterms:W3CDTF">2026-04-09T09:01:18Z</dcterms:modified>
</cp:coreProperties>
</file>