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COV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20116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"/>
            <a:ext cx="1874520" cy="4727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28016"/>
            <a:ext cx="1005840" cy="2542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94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$19.7M Processing Revenue in Q1 2026: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Card Processing Drives 58% of 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Payment Infrastructure Performance | Q1 2026 vs Q1 2025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Executive Committee · April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volume reached $841M (+32% YoY) but SMB take rates declining 7% signals pricing pressure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0604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60604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$19.7M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+32.4% vs 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60604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51560"/>
            <a:ext cx="2606040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188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VOLUME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01568" y="13990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$841M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+31.8% vs 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051560"/>
            <a:ext cx="260604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1051560"/>
            <a:ext cx="2606040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188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MERCHANTS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08776" y="13990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08776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 vs 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33104" y="1051560"/>
            <a:ext cx="260604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33104" y="1051560"/>
            <a:ext cx="2606040" cy="36576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21" name="Text 19"/>
          <p:cNvSpPr/>
          <p:nvPr/>
        </p:nvSpPr>
        <p:spPr>
          <a:xfrm>
            <a:off x="9015984" y="1188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TAKE 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15984" y="13990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15984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-3bps vs 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42316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Global payment processing volume reached $841M in Q1 2026, growing 32% YoY across all four regions. Enterprise card processing remains the largest revenue contributor at 58% of total.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COMPLICATION: SMB digital wallet take rates declined from 1.88% to 1.75% in North America (-7% YoY), compressing margins on the fastest-growing transaction volume segment. Fraud rates in LatAm remain 2.4x higher than NA Enterprise.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Can enterprise card processing growth offset SMB margin compression, or does the business need to reprice digital wallets before the cross-subsidy becomes structural?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Enterprise economics are strong enough to carry growth through Q3, but SMB wallet repricing should launch by June to prevent $2.1M annualized margin erosion.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754880"/>
            <a:ext cx="11064240" cy="502920"/>
          </a:xfrm>
          <a:prstGeom prst="rect">
            <a:avLst>
              <a:gd name="adj" fmla="val 10909"/>
            </a:avLst>
          </a:prstGeom>
          <a:solidFill>
            <a:srgbClr val="E0EB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8006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956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NRR equivalent is 141% (Q1 revenue from Q1-2025 cohort merchants = $9.6M vs original $6.8M). This organic expansion from existing enterprise accounts alone would grow the business 19% annually without any new merchant acquisition.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Internal Processing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BREAKDOWN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generates 57% of revenue but APAC growing 65% YoY from enterprise card adoption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53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$11.2M  ·  56.7% of total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5029200" cy="411480"/>
          </a:xfrm>
          <a:prstGeom prst="rect">
            <a:avLst>
              <a:gd name="adj" fmla="val 8889"/>
            </a:avLst>
          </a:prstGeom>
          <a:solidFill>
            <a:srgbClr val="D6D1C4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627632"/>
            <a:ext cx="2851556" cy="411480"/>
          </a:xfrm>
          <a:prstGeom prst="rect">
            <a:avLst>
              <a:gd name="adj" fmla="val 8889"/>
            </a:avLst>
          </a:prstGeom>
          <a:solidFill>
            <a:srgbClr val="1A6AFF"/>
          </a:solidFill>
          <a:ln/>
        </p:spPr>
      </p:sp>
      <p:sp>
        <p:nvSpPr>
          <p:cNvPr id="8" name="Shape 6"/>
          <p:cNvSpPr/>
          <p:nvPr/>
        </p:nvSpPr>
        <p:spPr>
          <a:xfrm>
            <a:off x="3400196" y="16459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A6AFF"/>
          </a:solidFill>
          <a:ln/>
        </p:spPr>
      </p:sp>
      <p:sp>
        <p:nvSpPr>
          <p:cNvPr id="9" name="Text 7"/>
          <p:cNvSpPr/>
          <p:nvPr/>
        </p:nvSpPr>
        <p:spPr>
          <a:xfrm>
            <a:off x="3400196" y="16459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04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$5.3M  ·  27% of total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679192"/>
            <a:ext cx="5029200" cy="411480"/>
          </a:xfrm>
          <a:prstGeom prst="rect">
            <a:avLst>
              <a:gd name="adj" fmla="val 8889"/>
            </a:avLst>
          </a:prstGeom>
          <a:solidFill>
            <a:srgbClr val="D6D1C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679192"/>
            <a:ext cx="1357884" cy="411480"/>
          </a:xfrm>
          <a:prstGeom prst="rect">
            <a:avLst>
              <a:gd name="adj" fmla="val 8889"/>
            </a:avLst>
          </a:prstGeom>
          <a:solidFill>
            <a:srgbClr val="F0CC27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6524" y="26974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A6A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06524" y="26974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+47.5%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$2.6M  ·  13.1% of total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730752"/>
            <a:ext cx="5029200" cy="411480"/>
          </a:xfrm>
          <a:prstGeom prst="rect">
            <a:avLst>
              <a:gd name="adj" fmla="val 8889"/>
            </a:avLst>
          </a:prstGeom>
          <a:solidFill>
            <a:srgbClr val="D6D1C4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730752"/>
            <a:ext cx="658825" cy="411480"/>
          </a:xfrm>
          <a:prstGeom prst="rect">
            <a:avLst>
              <a:gd name="adj" fmla="val 8889"/>
            </a:avLst>
          </a:prstGeom>
          <a:solidFill>
            <a:srgbClr val="4CC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7465" y="37490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4CC9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465" y="3749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America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5079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$0.6M  ·  3% of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782312"/>
            <a:ext cx="5029200" cy="411480"/>
          </a:xfrm>
          <a:prstGeom prst="rect">
            <a:avLst>
              <a:gd name="adj" fmla="val 8889"/>
            </a:avLst>
          </a:prstGeom>
          <a:solidFill>
            <a:srgbClr val="D6D1C4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4782312"/>
            <a:ext cx="150876" cy="411480"/>
          </a:xfrm>
          <a:prstGeom prst="rect">
            <a:avLst>
              <a:gd name="adj" fmla="val 24242"/>
            </a:avLst>
          </a:prstGeom>
          <a:solidFill>
            <a:srgbClr val="9B7A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" y="4800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4CC9A0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" y="48006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553212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097280"/>
            <a:ext cx="45720" cy="1234440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1463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card processing is the growth engine: 32 new merchants in Q1 with $35K+ avg processing value. SMB wallet take rates declining — needs repricing before margin erosion reaches $2.1M annualized.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553212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514600"/>
            <a:ext cx="45720" cy="1234440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606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2880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mid-market grew 46% driven by EU PSD3 compliance demand. Enterprise ARPU $39.5K nearly matches NA. Take rate 2.48% is the highest globally — pricing power intact.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931920"/>
            <a:ext cx="5532120" cy="1234440"/>
          </a:xfrm>
          <a:prstGeom prst="rect">
            <a:avLst>
              <a:gd name="adj" fmla="val 4444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931920"/>
            <a:ext cx="45720" cy="123444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023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4297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growth at 65% YoY but from a small base. Enterprise card processing expanding rapidly with 10 new merchants. Digital wallet volume doubling every 3 quarters.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557784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enterprise deal sizes ($35K avg) are competitive with NA — the region needs volume, not pricing adjustments. Invest in 3 additional enterprise sales reps by Q3.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Internal Processing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priorities for Q2: reprice SMB wallets, double APAC enterprise sales, and reduce LatAm fraud 40%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520440" cy="438912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520440" cy="54864"/>
          </a:xfrm>
          <a:prstGeom prst="rect">
            <a:avLst>
              <a:gd name="adj" fmla="val 50000"/>
            </a:avLst>
          </a:prstGeom>
          <a:solidFill>
            <a:srgbClr val="E8636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E8636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SMB Digital Wallets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 declined from 1.88% to 1.75% in 4 quarters. Introduce tiered pricing: maintain 1.75% below $50K monthly volume, raise to 1.95% above. Protects existing SMB base while recovering $2.1M annualized margin.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452628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9164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+$2.1M/yr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8892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1051560"/>
            <a:ext cx="3520440" cy="438912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051560"/>
            <a:ext cx="3520440" cy="54864"/>
          </a:xfrm>
          <a:prstGeom prst="rect">
            <a:avLst>
              <a:gd name="adj" fmla="val 50000"/>
            </a:avLst>
          </a:prstGeom>
          <a:solidFill>
            <a:srgbClr val="4CC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4CC9A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1280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APAC Enterprise Sales Capacity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1874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enterprise is growing 65% YoY with only 2 enterprise reps. Each new merchant generates $35K avg processing value. Adding 3 reps at $180K loaded cost targets $4.2M incremental annual revenue.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452628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38912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+$4.2M/yr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58368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1051560"/>
            <a:ext cx="3520440" cy="438912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051560"/>
            <a:ext cx="3520440" cy="54864"/>
          </a:xfrm>
          <a:prstGeom prst="rect">
            <a:avLst>
              <a:gd name="adj" fmla="val 50000"/>
            </a:avLst>
          </a:prstGeom>
          <a:solidFill>
            <a:srgbClr val="F0CC27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388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F0CC27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0" y="1280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LatAm Fraud Detection v2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83880" y="1874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fraud rate 17.2bps vs 6.4bps NA — 2.7x higher. ML-based fraud scoring reduced APAC rates 30% in H2 2025. Deploy same model for LatAm to cut fraud losses by $1.4M and unlock merchant confidence.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83880" y="452628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37" name="Text 35"/>
          <p:cNvSpPr/>
          <p:nvPr/>
        </p:nvSpPr>
        <p:spPr>
          <a:xfrm>
            <a:off x="818388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18388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28116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-$1.4M fraud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78440" y="4663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37844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566928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impact: $7.7M annualized revenue improvement. All three initiatives can be executed in parallel with existing team capacity plus 3 new APAC hires.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Internal Processing Ledger | Financial Model | Q1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2026-04-09T09:01:18Z</dcterms:created>
  <dcterms:modified xsi:type="dcterms:W3CDTF">2026-04-09T09:01:18Z</dcterms:modified>
</cp:coreProperties>
</file>