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COV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20116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"/>
            <a:ext cx="1874520" cy="4727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28016"/>
            <a:ext cx="1005840" cy="2542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28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AI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Performance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Growth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$29.7M ARR  ·  6 Clinical Departments  ·  31K+ Active Users  ·  99.4% Uptime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Trajectory: Q1 2025 – Q1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Board of Directors &amp; Clinical Advisory Board · April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sections covering platform performance, department deep dives, clinical impact, and strategic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57200" cy="457200"/>
          </a:xfrm>
          <a:prstGeom prst="rect">
            <a:avLst>
              <a:gd name="adj" fmla="val 12000"/>
            </a:avLst>
          </a:prstGeom>
          <a:solidFill>
            <a:srgbClr val="1A6A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 &amp; Key 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trajectory, user growth, retention, and unit economics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3-4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642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03120"/>
            <a:ext cx="457200" cy="457200"/>
          </a:xfrm>
          <a:prstGeom prst="rect">
            <a:avLst>
              <a:gd name="adj" fmla="val 12000"/>
            </a:avLst>
          </a:prstGeom>
          <a:solidFill>
            <a:srgbClr val="FBF8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Performance Deep Dives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04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Cardiology, Radiology, Oncology, Emergency, and Primary Care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6-9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10642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063240"/>
            <a:ext cx="457200" cy="457200"/>
          </a:xfrm>
          <a:prstGeom prst="rect">
            <a:avLst>
              <a:gd name="adj" fmla="val 12000"/>
            </a:avLst>
          </a:prstGeom>
          <a:solidFill>
            <a:srgbClr val="FBF8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&amp; 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outcome scores, FDA compliance rates, benchmarks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23360"/>
            <a:ext cx="457200" cy="457200"/>
          </a:xfrm>
          <a:prstGeom prst="rect">
            <a:avLst>
              <a:gd name="adj" fmla="val 12000"/>
            </a:avLst>
          </a:prstGeom>
          <a:solidFill>
            <a:srgbClr val="FBF8F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 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3251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drivers, cross-sell patterns, cohort economics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12-13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983480"/>
            <a:ext cx="457200" cy="457200"/>
          </a:xfrm>
          <a:prstGeom prst="rect">
            <a:avLst>
              <a:gd name="adj" fmla="val 12000"/>
            </a:avLst>
          </a:prstGeom>
          <a:solidFill>
            <a:srgbClr val="FBF8F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285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priorities for the next 12 months with ROI projections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14-15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reached $29.7M (+49% YoY) with Emergency Triage AI achieving 0.6% churn — the lowest in healthcare SaaS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2084832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2084832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11556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ARR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1208" y="12801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$29.7M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+49.4% vs 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79192" y="1024128"/>
            <a:ext cx="2084832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1024128"/>
            <a:ext cx="2084832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11556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USERS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88920" y="12801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16642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+38.2% vs 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46904" y="1024128"/>
            <a:ext cx="2084832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6904" y="1024128"/>
            <a:ext cx="2084832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111556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NPS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56632" y="12801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56632" y="16642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+8pts vs 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14616" y="1024128"/>
            <a:ext cx="2084832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1024128"/>
            <a:ext cx="2084832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111556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BLENDED CHURN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24344" y="12801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24344" y="16642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-1.4pp vs 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82328" y="1024128"/>
            <a:ext cx="2084832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328" y="1024128"/>
            <a:ext cx="2084832" cy="36576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26" name="Text 24"/>
          <p:cNvSpPr/>
          <p:nvPr/>
        </p:nvSpPr>
        <p:spPr>
          <a:xfrm>
            <a:off x="9592056" y="111556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 REV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592056" y="12801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$2.84M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92056" y="16642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vs 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20116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Healthcare AI platform ARR reached $29.7M in Q1 2026, growing 49% YoY across 6 clinical departments. Emergency Triage AI and Cardiology Imaging AI are the fastest-growing modules with NPS scores above 80.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COMPLICATION: Primary Care EHR Integration lags with 3.2% churn, NPS of 64, and 62-day implementation — 3x longer than Emergency (14 days). The module is $3.3M ARR but has below-average unit economics.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Should we continue investing in Primary Care's complex EHR integration or redirect R&amp;D toward high-NPS specialty modules?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Fix Primary Care implementation (hire 4 dedicated integration engineers) while accelerating Emergency and Oncology internationally. Primary Care's TAM ($8.2B) is too large to abandon.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57200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AI: 0.6% churn, NPS 88, 14-day implementation, 90% DAU. This is the benchmark — every module should converge toward these metrics.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TRAJECTORY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departments accelerating — Emergency and Oncology grew 80%+ YoY while maintaining sub-2% churn rates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5s_arr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1124712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62356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current trajectory, platform will cross $40M ARR by Q4 2026. Emergency alone will be $6M+ — a standalone product at scale.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Deep Dives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· Radiology · Oncology · Emergency · Primary Care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749040"/>
            <a:ext cx="228600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IMAGING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$9.7M ARR (+54% YoY) with Europe closing the engagement gap — DAU rose from 62% to 70% in 4 quarters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5s_cardiology_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7607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Highlights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92240" y="155448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America: $6.28M ARR, 76% DAU, 1.0% churn, NPS 80. Implementation shortened from 45 to 32 days.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Europe: $3.44M ARR, 70% DAU (up from 62%), 1.4% churn. Go-live rate improved from 88% to 96%.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driver: Imaging AI accuracy reached 9.2/10 clinical outcomes score — 96% of cardiologists report faster diagnosis.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EU data residency requirements may require local model hosting by Q3. Budget: $400K one-time + $80K/yr.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1480" y="512064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expansion revenue ($1M/Q) is 16% of ARR — the highest cross-sell rate. Existing customers are upgrading to multi-site licenses.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2025 – Q1 2026 | NA &amp; EU Hospitals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AI outperforms Primary Care EHR on every metric — 5x lower churn, 4.5x faster implementation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5s_emergency_vs_primary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3385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3035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Care's 62-day implementation is the #1 churn predictor. Every 10 days above 30 increases churn probability 18%. Fixing implementation is highest-leverage.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TREATMENT PLANNING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is the highest-NPS module (84) with 0.8% NA churn — APAC expansion is 18 months behind NA but converging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060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0604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9728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ARR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1208" y="1261872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164592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606040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09728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 ARR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55848" y="1261872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$1.52M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164592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060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05840"/>
            <a:ext cx="2606040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09728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CHURN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0488" y="1261872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0488" y="164592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15400" y="1005840"/>
            <a:ext cx="26060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005840"/>
            <a:ext cx="2606040" cy="36576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21" name="Text 19"/>
          <p:cNvSpPr/>
          <p:nvPr/>
        </p:nvSpPr>
        <p:spPr>
          <a:xfrm>
            <a:off x="9025128" y="109728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NPS (BLENDED)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025128" y="1261872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25128" y="164592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+10pts YoY</a:t>
            </a:r>
            <a:endParaRPr lang="en-US" sz="900" dirty="0"/>
          </a:p>
        </p:txBody>
      </p:sp>
      <p:pic>
        <p:nvPicPr>
          <p:cNvPr id="24" name="Image 0" descr="/Users/marcodicesare/conductor/workspaces/basquio/port-louis/test-output/demo-decks/charts/15s_oncology_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65960"/>
            <a:ext cx="5760720" cy="2926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9224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Convergence Path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23317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Oncology is replicating NA's trajectory with an 18-month lag: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DAU rose from 58% to 66% (NA was at 66% in Q3 2025)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outcomes score: 8.8 vs NA's 9.2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Implementation: 45 days vs NA's 24 (closing)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Churn: 1.8% vs NA's 0.8% (same as NA Q2 2025)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trajectory holds, APAC reaches NA metrics by Q3 2027.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11480" y="512064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treatment accuracy (9.8/10 in NA) drives the lowest churn. Clinical outcomes ARE the retention strategy.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2025 – Q1 2026 | NA &amp; APAC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SCORECARD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and Oncology score 'Excellent' across all dimensions — Primary Care needs intervention on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155680" cy="384048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105156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62072" y="105156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($M)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50792" y="10515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8072" y="10515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45352" y="105156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105156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65592" y="105156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54312" y="10515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435608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810512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1435608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62072" y="14356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$9.72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50792" y="143560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8072" y="143560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5352" y="143560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59752" y="143560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65592" y="14356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54312" y="143560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9656"/>
            <a:ext cx="1115568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2194560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181965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Workflow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2072" y="18196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$6.78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50792" y="18196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48072" y="18196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5352" y="1819656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59752" y="181965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65592" y="18196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54312" y="1819656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2203704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2578608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220370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Planning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62072" y="2203704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$5.84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50792" y="220370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48072" y="220370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45352" y="2203704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59752" y="22037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65592" y="2203704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54312" y="220370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587752"/>
            <a:ext cx="1115568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62656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" y="258775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62072" y="258775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50792" y="258775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48072" y="258775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45352" y="258775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59752" y="258775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65592" y="258775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54312" y="25877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2971800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54" name="Shape 52"/>
          <p:cNvSpPr/>
          <p:nvPr/>
        </p:nvSpPr>
        <p:spPr>
          <a:xfrm>
            <a:off x="411480" y="3346704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" y="29718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 EHR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62072" y="297180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050792" y="297180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48072" y="297180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45352" y="29718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59752" y="29718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65592" y="297180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354312" y="297180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Improvement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66344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achieves 'Outstanding' on 81% growth, 0.9% churn, NPS 83, 85% DAU, 18-day implementation. This is the template for all modules.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patient impact and regulatory performance across all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749040"/>
            <a:ext cx="228600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INDEX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improved 0.6pts YoY across all modules — Emergency leads at 9.9/10 with 99.8% compliance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5s_clinical_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7607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Outcomes Drive Retention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92240" y="15544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with clinical outcomes &gt;9.0 have &lt;1.5% churn. Modules below 8.5 have &gt;2.5% churn.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correlation is 0.94 — clinical outcomes are the #1 predictor of retention, ahead of NPS, DAU, and implementation speed.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Emergency's 9.9 score is validated by 3 peer-reviewed studies showing 23% faster triage and 12% lower misdiagnosis.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Care's 7.8 reflects EHR integration friction, not clinical accuracy. The AI performs at 8.6 when data flows correctly.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1480" y="548640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&gt;9.0 = churn &lt;1.5%. Getting Primary Care from 7.8 to 9.0 would cut its churn from 3.2% to ~1.5%, saving $1.6M ARR.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Clinical Outcomes Database | Q1 2025 – Q1 2026 | All Modules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hit $2.84M/Q (+62% YoY) — Cardiology leads at $1M/Q from multi-site license upgrades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5204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52044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9728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 REV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1208" y="1261872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$2.84M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164592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1005840"/>
            <a:ext cx="35204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005840"/>
            <a:ext cx="3520440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109728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 / ARR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70248" y="1261872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70248" y="164592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+1.8pp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09560" y="1005840"/>
            <a:ext cx="3520440" cy="822960"/>
          </a:xfrm>
          <a:prstGeom prst="rect">
            <a:avLst>
              <a:gd name="adj" fmla="val 666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1005840"/>
            <a:ext cx="3520440" cy="36576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16" name="Text 14"/>
          <p:cNvSpPr/>
          <p:nvPr/>
        </p:nvSpPr>
        <p:spPr>
          <a:xfrm>
            <a:off x="8019288" y="109728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CROSS-SELL RATE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019288" y="1261872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19288" y="164592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w/ 2+ modules</a:t>
            </a:r>
            <a:endParaRPr lang="en-US" sz="900" dirty="0"/>
          </a:p>
        </p:txBody>
      </p:sp>
      <p:pic>
        <p:nvPicPr>
          <p:cNvPr id="19" name="Image 0" descr="/Users/marcodicesare/conductor/workspaces/basquio/port-louis/test-output/demo-decks/charts/15s_expansion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0"/>
            <a:ext cx="5760720" cy="30175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Patterns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23774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cross-sell paths: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Cardiology → Radiology (38% of cross-sells)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Shared imaging infrastructure drives adoption.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Emergency → Oncology (22%)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Acute care pathways lead to treatment planning.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Radiology → Primary Care (16%)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Workflow integration creates EHR demand.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of customers now use 2+ modules, up from 14% in Q1 2025.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53035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2+ modules have 0.4% churn vs 2.8% single-module. Cross-sell is the #1 retention strategy after clinical outcomes.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&amp; CRM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cohort expansion rate (34%) is 2.4x 2023 cohort (14%) — newer customers adopt faster and expand more aggressively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5s_cohort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57607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005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Performance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371600"/>
            <a:ext cx="5120640" cy="384048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7" name="Text 4"/>
          <p:cNvSpPr/>
          <p:nvPr/>
        </p:nvSpPr>
        <p:spPr>
          <a:xfrm>
            <a:off x="6565392" y="13716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71232" y="13716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77072" y="13716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582912" y="13716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88752" y="137160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1755648"/>
            <a:ext cx="512064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2130552"/>
            <a:ext cx="51206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4" name="Text 11"/>
          <p:cNvSpPr/>
          <p:nvPr/>
        </p:nvSpPr>
        <p:spPr>
          <a:xfrm>
            <a:off x="6565392" y="175564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Pre-2023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71232" y="175564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77072" y="175564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$6.8M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582912" y="175564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88752" y="17556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92240" y="2139696"/>
            <a:ext cx="512064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0" y="2514600"/>
            <a:ext cx="51206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1" name="Text 18"/>
          <p:cNvSpPr/>
          <p:nvPr/>
        </p:nvSpPr>
        <p:spPr>
          <a:xfrm>
            <a:off x="6565392" y="21396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71232" y="21396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77072" y="21396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$7.2M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582912" y="21396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88752" y="21396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92240" y="2523744"/>
            <a:ext cx="512064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27" name="Shape 24"/>
          <p:cNvSpPr/>
          <p:nvPr/>
        </p:nvSpPr>
        <p:spPr>
          <a:xfrm>
            <a:off x="6492240" y="2898648"/>
            <a:ext cx="51206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8" name="Text 25"/>
          <p:cNvSpPr/>
          <p:nvPr/>
        </p:nvSpPr>
        <p:spPr>
          <a:xfrm>
            <a:off x="6565392" y="25237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571232" y="25237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77072" y="25237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$8.4M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582912" y="25237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588752" y="25237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92240" y="2907792"/>
            <a:ext cx="512064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4" name="Shape 31"/>
          <p:cNvSpPr/>
          <p:nvPr/>
        </p:nvSpPr>
        <p:spPr>
          <a:xfrm>
            <a:off x="6492240" y="3282696"/>
            <a:ext cx="51206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35" name="Text 32"/>
          <p:cNvSpPr/>
          <p:nvPr/>
        </p:nvSpPr>
        <p:spPr>
          <a:xfrm>
            <a:off x="6565392" y="29077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571232" y="29077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577072" y="29077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$5.1M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582912" y="29077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588752" y="290779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492240" y="3291840"/>
            <a:ext cx="512064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41" name="Shape 38"/>
          <p:cNvSpPr/>
          <p:nvPr/>
        </p:nvSpPr>
        <p:spPr>
          <a:xfrm>
            <a:off x="6492240" y="3666744"/>
            <a:ext cx="512064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42" name="Text 39"/>
          <p:cNvSpPr/>
          <p:nvPr/>
        </p:nvSpPr>
        <p:spPr>
          <a:xfrm>
            <a:off x="6565392" y="329184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571232" y="329184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77072" y="329184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582912" y="329184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588752" y="329184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11480" y="53035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9436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Pre-2023 cohort is the only one shrinking (-17%). Focus retention on 2024-2025 cohorts where expansion momentum is strongest.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2026 | All Cohorts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structural insights that should reshape the platform's 2026-2027 investment allocation and product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520440" cy="5486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 correlation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predict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better than NPS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&gt;9.0 on clinical outcomes have &lt;1.5% churn. NPS correlation with churn is only 0.72. Product investment should optimize for clinical accuracy first, user experience second.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051560"/>
            <a:ext cx="3520440" cy="54864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2.4x expansion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1828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cohorts expand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legacy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cohort expanded 34% in 12 months vs 14% for 2023. Customers onboarded post-2024 adopt 2+ modules 2x faster. The cross-sell engine is maturing.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051560"/>
            <a:ext cx="3520440" cy="54864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62-day drag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1828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 implementation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#1 churn 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26517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62-day implementation causes 18% higher churn per 10-day overshoot past 30 days. Fixing implementation would cut churn from 3.2% to ~1.5%, saving $1.6M ARR at risk annually.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Q1 2025 – Q1 2026 | All Regions &amp; Modules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priorities for 2026: fix Primary Care, expand Emergency internationally, deepen cross-sell, invest in outcomes R&amp;D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3520440" cy="2240280"/>
          </a:xfrm>
          <a:prstGeom prst="rect">
            <a:avLst>
              <a:gd name="adj" fmla="val 2449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3520440" cy="45720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47472" cy="347472"/>
          </a:xfrm>
          <a:prstGeom prst="rect">
            <a:avLst>
              <a:gd name="adj" fmla="val 13158"/>
            </a:avLst>
          </a:prstGeom>
          <a:solidFill>
            <a:srgbClr val="E863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161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Primary Care Implementation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4 integration engineers. Target: 30-day impl (from 62). $480K investment to save $1.6M ARR at risk.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246120" cy="256032"/>
          </a:xfrm>
          <a:prstGeom prst="roundRect">
            <a:avLst>
              <a:gd name="adj" fmla="val 50000"/>
            </a:avLst>
          </a:prstGeom>
          <a:solidFill>
            <a:srgbClr val="E8636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+$1.6M saved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024128"/>
            <a:ext cx="3520440" cy="2240280"/>
          </a:xfrm>
          <a:prstGeom prst="rect">
            <a:avLst>
              <a:gd name="adj" fmla="val 2449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024128"/>
            <a:ext cx="3520440" cy="4572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188720"/>
            <a:ext cx="347472" cy="347472"/>
          </a:xfrm>
          <a:prstGeom prst="rect">
            <a:avLst>
              <a:gd name="adj" fmla="val 13158"/>
            </a:avLst>
          </a:prstGeom>
          <a:solidFill>
            <a:srgbClr val="4CC9A0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1161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Emergency in EU &amp; APAC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1664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 churn + NPS 88 + 14-day impl = fastest international module. EU TAM is $2.4B. Target: $3M incremental ARR.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2880360"/>
            <a:ext cx="3246120" cy="256032"/>
          </a:xfrm>
          <a:prstGeom prst="roundRect">
            <a:avLst>
              <a:gd name="adj" fmla="val 50000"/>
            </a:avLst>
          </a:prstGeom>
          <a:solidFill>
            <a:srgbClr val="4CC9A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880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+$3.0M ARR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1024128"/>
            <a:ext cx="3520440" cy="2240280"/>
          </a:xfrm>
          <a:prstGeom prst="rect">
            <a:avLst>
              <a:gd name="adj" fmla="val 2449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024128"/>
            <a:ext cx="3520440" cy="45720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1188720"/>
            <a:ext cx="347472" cy="347472"/>
          </a:xfrm>
          <a:prstGeom prst="rect">
            <a:avLst>
              <a:gd name="adj" fmla="val 13158"/>
            </a:avLst>
          </a:prstGeom>
          <a:solidFill>
            <a:srgbClr val="1A6A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67928" y="1161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Cross-Sell Playbook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1664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use 2+ modules, cross-sold churn at 0.4%. Create paths: Cardiology→Radiology, Emergency→Oncology. Target: 35% by Q4.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38160" y="2880360"/>
            <a:ext cx="3246120" cy="256032"/>
          </a:xfrm>
          <a:prstGeom prst="roundRect">
            <a:avLst>
              <a:gd name="adj" fmla="val 50000"/>
            </a:avLst>
          </a:prstGeom>
          <a:solidFill>
            <a:srgbClr val="1A6A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2880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 churn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474720"/>
            <a:ext cx="5349240" cy="1920240"/>
          </a:xfrm>
          <a:prstGeom prst="rect">
            <a:avLst>
              <a:gd name="adj" fmla="val 285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474720"/>
            <a:ext cx="5349240" cy="45720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639312"/>
            <a:ext cx="347472" cy="347472"/>
          </a:xfrm>
          <a:prstGeom prst="rect">
            <a:avLst>
              <a:gd name="adj" fmla="val 13158"/>
            </a:avLst>
          </a:prstGeom>
          <a:solidFill>
            <a:srgbClr val="F0CC2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" y="3611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Clinical Outcomes R&amp;D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11480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(0.94 retention correlation) &gt; NPS (0.72). Allocate 30% R&amp;D to model accuracy. Primary Care: 7.8→9.0.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010912"/>
            <a:ext cx="5074920" cy="256032"/>
          </a:xfrm>
          <a:prstGeom prst="roundRect">
            <a:avLst>
              <a:gd name="adj" fmla="val 50000"/>
            </a:avLst>
          </a:prstGeom>
          <a:solidFill>
            <a:srgbClr val="F0CC27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01091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+$4.2M LTV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474720"/>
            <a:ext cx="5349240" cy="1920240"/>
          </a:xfrm>
          <a:prstGeom prst="rect">
            <a:avLst>
              <a:gd name="adj" fmla="val 2857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474720"/>
            <a:ext cx="5349240" cy="45720"/>
          </a:xfrm>
          <a:prstGeom prst="rect">
            <a:avLst/>
          </a:prstGeom>
          <a:solidFill>
            <a:srgbClr val="9B7AE0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2200" y="3639312"/>
            <a:ext cx="347472" cy="347472"/>
          </a:xfrm>
          <a:prstGeom prst="rect">
            <a:avLst>
              <a:gd name="adj" fmla="val 13158"/>
            </a:avLst>
          </a:prstGeom>
          <a:solidFill>
            <a:srgbClr val="9B7AE0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01968" y="3611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 Residency Infrastructure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411480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EU requires local hosting by Q3 per GDPR/AI Act. $400K one-time. Protects $3.4M EU ARR + enables Oncology EU.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5010912"/>
            <a:ext cx="5074920" cy="256032"/>
          </a:xfrm>
          <a:prstGeom prst="roundRect">
            <a:avLst>
              <a:gd name="adj" fmla="val 50000"/>
            </a:avLst>
          </a:prstGeom>
          <a:solidFill>
            <a:srgbClr val="9B7AE0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501091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$3.4M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566928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impact: $12.2M incremental ARR + 40% churn reduction. Total investment: $1.4M. Payback: &lt;6 months.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Platform Analytics | Financial Model | Q1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2026-04-09T09:01:18Z</dcterms:created>
  <dcterms:modified xsi:type="dcterms:W3CDTF">2026-04-09T09:01:18Z</dcterms:modified>
</cp:coreProperties>
</file>