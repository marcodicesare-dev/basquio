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Q_COVER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6A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922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NielsenIQ RMS Italy | Snack Salati Strategic Map 2026</a:t>
            </a:r>
            <a:endParaRPr lang="en-US" sz="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Q_SECTION">
    <p:bg>
      <p:bgPr>
        <a:solidFill>
          <a:srgbClr val="1A6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36576"/>
          </a:xfrm>
          <a:prstGeom prst="rect">
            <a:avLst/>
          </a:prstGeom>
          <a:solidFill>
            <a:srgbClr val="F0CC27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Q_CONTENT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6A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922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NielsenIQ RMS Italy | Snack Salati Analysis 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5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5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457200"/>
            <a:ext cx="4114800" cy="5943600"/>
          </a:xfrm>
          <a:prstGeom prst="roundRect">
            <a:avLst>
              <a:gd name="adj" fmla="val 6667"/>
            </a:avLst>
          </a:prstGeom>
          <a:solidFill>
            <a:srgbClr val="1A6AFF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NIQ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Mercato Patatine &amp;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Snack Salati Italia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3108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Mappa Strategica 2026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3931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9.197 SKUs  |  50+ fornitori  |  7 segmenti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4297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NielsenIQ RMS Italy 2025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5303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Basquio Intelligence Engine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5577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Director &amp; Board Innovazione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16636" y="128016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D0D0D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53796" y="1417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 Categoria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3796" y="1737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€2.040M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3796" y="2377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-0,7% YoY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51276" y="128016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D0D0D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88436" y="1417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Kellanova Quota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88436" y="1737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9,2%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88436" y="2377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-0,42pp vs PY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85916" y="128016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D0D0D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23076" y="1417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Veggy Chips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23076" y="1737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+34,1%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323076" y="2377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8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€54M — fastest segment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20556" y="128016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D0D0D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57716" y="1417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Multipack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57716" y="1737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+5,0%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157716" y="2377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8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€320M — Pringles assente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200400"/>
            <a:ext cx="5577840" cy="2103120"/>
          </a:xfrm>
          <a:prstGeom prst="roundRect">
            <a:avLst>
              <a:gd name="adj" fmla="val 3478"/>
            </a:avLst>
          </a:prstGeom>
          <a:solidFill>
            <a:srgbClr val="2A863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291840"/>
            <a:ext cx="5212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DOVE VINCE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San Carlo: +1,7% val, +0,57pp quota, distribuzione +2,1pp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Veggy Good: +87,9% — lancio più riuscito della categoria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Multipack: +5,0% (€320M) e Single Serve +5,1%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Herb +12,7%, Sweet +62%, Salt &amp; Vinegar +18,3%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3200400"/>
            <a:ext cx="5577840" cy="2103120"/>
          </a:xfrm>
          <a:prstGeom prst="roundRect">
            <a:avLst>
              <a:gd name="adj" fmla="val 3478"/>
            </a:avLst>
          </a:prstGeom>
          <a:solidFill>
            <a:srgbClr val="D9404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3291840"/>
            <a:ext cx="5212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DOVE SOFFRE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Pringles core: -4,3% val, distribuzione -1,0pp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Portfolio 100% ricostituite (18,8% cat) — mismatch estremo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Promo intensity 31% — la più alta, non converte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Pringles spicy -14,2% nel flavour in più rapida crescita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5486400"/>
            <a:ext cx="11430000" cy="685800"/>
          </a:xfrm>
          <a:prstGeom prst="roundRect">
            <a:avLst>
              <a:gd name="adj" fmla="val 13333"/>
            </a:avLst>
          </a:prstGeom>
          <a:solidFill>
            <a:srgbClr val="0A1628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54864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SCQA: Kellanova ha perso €10M e 0,42pp. Il canister non intercetta più la domanda. Tre lanci (Minis multipack, veggy standalone, tortilla bag) intercettano €16-25M.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5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Panoramica del Mercato Snack Salati Italia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 totale: €2.040 Miliardi | 7 segmenti principali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80160"/>
            <a:ext cx="7132320" cy="4114800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280160"/>
          <a:ext cx="41148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62940"/>
                <a:gridCol w="662940"/>
                <a:gridCol w="662940"/>
                <a:gridCol w="6629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 YoY%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 YoY%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€/Kg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Patatine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1033.3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-1.8%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€8.83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Ricostituite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383.5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-4.2%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-3.7%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€12.57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Estrusi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364.3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€10.17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Corn/Tortilla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€7.61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Vegetable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+34.1%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+23.5%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€25.78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Sticks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-4.1%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€10.4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Mixed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-6.2%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-3.5%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€11.42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5577840"/>
            <a:ext cx="11430000" cy="685800"/>
          </a:xfrm>
          <a:prstGeom prst="roundRect">
            <a:avLst>
              <a:gd name="adj" fmla="val 13333"/>
            </a:avLst>
          </a:prstGeom>
          <a:solidFill>
            <a:srgbClr val="0A1628"/>
          </a:solidFill>
          <a:ln/>
        </p:spPr>
      </p:sp>
      <p:sp>
        <p:nvSpPr>
          <p:cNvPr id="7" name="Text 3"/>
          <p:cNvSpPr/>
          <p:nvPr/>
        </p:nvSpPr>
        <p:spPr>
          <a:xfrm>
            <a:off x="548640" y="55778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Veggy +34,1% unico segmento in forte crescita. Ricostituite (Pringles) peggior segmento: -4,2%, unico con deflazione prezzo.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5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Capitolo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vince e chi perde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classifica competitiva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Fornitori per Valore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Carlo unico big player in crescita: +1,7% val, distribuzione +2,1pp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80160"/>
            <a:ext cx="7132320" cy="411480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280160"/>
          <a:ext cx="41148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883920"/>
                <a:gridCol w="883920"/>
                <a:gridCol w="8839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Fornitore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YoY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LABEL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719.6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35.3%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 CARLO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490.5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+1.7%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MONDELEZ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KELLANOVA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187.3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AMICA CHIPS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147.6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PEPSICO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-4.9%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PREZIOSI FOOD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-22.4%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5577840"/>
            <a:ext cx="11430000" cy="685800"/>
          </a:xfrm>
          <a:prstGeom prst="roundRect">
            <a:avLst>
              <a:gd name="adj" fmla="val 13333"/>
            </a:avLst>
          </a:prstGeom>
          <a:solidFill>
            <a:srgbClr val="0A1628"/>
          </a:solidFill>
          <a:ln/>
        </p:spPr>
      </p:sp>
      <p:sp>
        <p:nvSpPr>
          <p:cNvPr id="7" name="Text 3"/>
          <p:cNvSpPr/>
          <p:nvPr/>
        </p:nvSpPr>
        <p:spPr>
          <a:xfrm>
            <a:off x="548640" y="55778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Carlo +1,7% val, +0,57pp quota. Kellanova -5,0%, -0,42pp. PL flat (-0,1%). Fiorentini +9,1% = il disruptor.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5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Carlo: 10 brand, nessuno oltre il 17% del portafoglio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diversificato vs concentrazione Pringles 97,2%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80160"/>
            <a:ext cx="713232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1280160"/>
            <a:ext cx="4114800" cy="4114800"/>
          </a:xfrm>
          <a:prstGeom prst="roundRect">
            <a:avLst>
              <a:gd name="adj" fmla="val 1778"/>
            </a:avLst>
          </a:prstGeom>
          <a:solidFill>
            <a:srgbClr val="EBE7DA"/>
          </a:solidFill>
          <a:ln/>
        </p:spPr>
      </p:sp>
      <p:sp>
        <p:nvSpPr>
          <p:cNvPr id="6" name="Text 3"/>
          <p:cNvSpPr/>
          <p:nvPr/>
        </p:nvSpPr>
        <p:spPr>
          <a:xfrm>
            <a:off x="7955280" y="1417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LEZIONE PER KELLANOVA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955280" y="1737360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Carlo copre ogni segmento con brand dedicati: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 Core €85M (patatine classiche)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Più Gusto €83M (spicy)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Rustica €70M (premium)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Antica Ricetta €66M (heritage)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Dixi €33M (estrusi)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Highlander €18M (formato grande)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Light €14M (salutistico)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 intensity: 10% vs Pringles 31%.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Vince in distribuzione, non in promo.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5577840"/>
            <a:ext cx="11430000" cy="685800"/>
          </a:xfrm>
          <a:prstGeom prst="roundRect">
            <a:avLst>
              <a:gd name="adj" fmla="val 13333"/>
            </a:avLst>
          </a:prstGeom>
          <a:solidFill>
            <a:srgbClr val="0A1628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55778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brand San Carlo sopra €65M. Pringles ha UN brand al 97,2%. Zero diversificazione = zero resilienza.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5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Pringles core -4,3%, Hot -19%, Passport -32%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estensioni di linea non compensano: cannibalizzano o falliscono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80160"/>
            <a:ext cx="7132320" cy="411480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280160"/>
          <a:ext cx="41148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883920"/>
                <a:gridCol w="883920"/>
                <a:gridCol w="8839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YoY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PRINGLES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-4.3%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PRINGLES HOT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-19.4%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PRINGLES PASSPORT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-32.2%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PRINGLES MISTERY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+14.2%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PRINGLES FALLOUT 76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PRINGLES STADIUM SNACKS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5577840"/>
            <a:ext cx="11430000" cy="685800"/>
          </a:xfrm>
          <a:prstGeom prst="roundRect">
            <a:avLst>
              <a:gd name="adj" fmla="val 13333"/>
            </a:avLst>
          </a:prstGeom>
          <a:solidFill>
            <a:srgbClr val="8B1A1A"/>
          </a:solidFill>
          <a:ln/>
        </p:spPr>
      </p:sp>
      <p:sp>
        <p:nvSpPr>
          <p:cNvPr id="7" name="Text 3"/>
          <p:cNvSpPr/>
          <p:nvPr/>
        </p:nvSpPr>
        <p:spPr>
          <a:xfrm>
            <a:off x="548640" y="55778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CONCENTRATION: 97,2% su Pringles core. Hot -19,4%, Passport -32,2%, Flame -98,2%. Il canister non è un formato esplorativo.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5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Kellanova 100% ricostituite vs 18,8% della categoria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Mismatch: il gap più grave del mercato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80160"/>
            <a:ext cx="713232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1280160"/>
            <a:ext cx="4114800" cy="4114800"/>
          </a:xfrm>
          <a:prstGeom prst="roundRect">
            <a:avLst>
              <a:gd name="adj" fmla="val 1778"/>
            </a:avLst>
          </a:prstGeom>
          <a:solidFill>
            <a:srgbClr val="EBE7DA"/>
          </a:solidFill>
          <a:ln/>
        </p:spPr>
      </p:sp>
      <p:sp>
        <p:nvSpPr>
          <p:cNvPr id="6" name="Text 3"/>
          <p:cNvSpPr/>
          <p:nvPr/>
        </p:nvSpPr>
        <p:spPr>
          <a:xfrm>
            <a:off x="7955280" y="1417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MISMATCH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955280" y="1737360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Kellanova ha: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0% in Patatine (50,7% cat)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100% in Ricostituite (18,8% cat)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0% in Estrusi (17,9% cat)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0% in Corn Chips (8,0% cat)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0% in Vegetable (2,6% cat)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brand è esposto al declino di un solo segmento. Ogni punto perso nelle ricostituite è irrecuperabile senza diversificazione.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5577840"/>
            <a:ext cx="11430000" cy="685800"/>
          </a:xfrm>
          <a:prstGeom prst="roundRect">
            <a:avLst>
              <a:gd name="adj" fmla="val 13333"/>
            </a:avLst>
          </a:prstGeom>
          <a:solidFill>
            <a:srgbClr val="8B1A1A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55778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MOTIVO DIAGNOSTICO: Portfolio Mismatch. Kellanova deve uscire dalle ricostituite per intercettare la crescita in veggy, tortilla, multipack.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5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Capitolo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Label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Forte in quota, debole in dinamica</a:t>
            </a:r>
            <a:endParaRPr lang="en-US"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MDD vs Branded per segmento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PL domina nei corn chips (50,8%) ma è irrilevante nelle veggy (11,6%)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80160"/>
            <a:ext cx="713232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1280160"/>
            <a:ext cx="4114800" cy="4114800"/>
          </a:xfrm>
          <a:prstGeom prst="roundRect">
            <a:avLst>
              <a:gd name="adj" fmla="val 1778"/>
            </a:avLst>
          </a:prstGeom>
          <a:solidFill>
            <a:srgbClr val="EBE7DA"/>
          </a:solidFill>
          <a:ln/>
        </p:spPr>
      </p:sp>
      <p:sp>
        <p:nvSpPr>
          <p:cNvPr id="6" name="Text 3"/>
          <p:cNvSpPr/>
          <p:nvPr/>
        </p:nvSpPr>
        <p:spPr>
          <a:xfrm>
            <a:off x="7955280" y="1417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955280" y="1737360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Dove la PL non cresce = dove la marca può innovare.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Veggy: PL 11,6% — il consumatore vuole MARCA e CLAIM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Corn: PL 50,8% — prodotto basico, zero innovazione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Estrusi: gap prezzo +92% — premium fragile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PL NON è una minaccia nella premiumizzazione. È la prova che il consumatore cerca valore, non risparmio.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5577840"/>
            <a:ext cx="11430000" cy="685800"/>
          </a:xfrm>
          <a:prstGeom prst="roundRect">
            <a:avLst>
              <a:gd name="adj" fmla="val 13333"/>
            </a:avLst>
          </a:prstGeom>
          <a:solidFill>
            <a:srgbClr val="0A1628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55778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TREND: PL perde quota (-1,2pp) SOLO nelle veggy — esattamente dove l'innovazione di marca è più forte.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5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Prezzo/Kg: Marca vs Private Label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prezzo +92% negli estrusi, +80% nei corn chips — dove il premium è fragile?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80160"/>
            <a:ext cx="7132320" cy="411480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280160"/>
          <a:ext cx="41148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883920"/>
                <a:gridCol w="883920"/>
                <a:gridCol w="8839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Marca €/Kg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 €/Kg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Patatine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€10.71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€6.9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Estrusi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€13.43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€6.99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Ricostituite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€13.88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€9.6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Corn/Tort.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€10.71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€5.95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Vegetable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€26.96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€19.34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5577840"/>
            <a:ext cx="11430000" cy="685800"/>
          </a:xfrm>
          <a:prstGeom prst="roundRect">
            <a:avLst>
              <a:gd name="adj" fmla="val 13333"/>
            </a:avLst>
          </a:prstGeom>
          <a:solidFill>
            <a:srgbClr val="8B1A1A"/>
          </a:solidFill>
          <a:ln/>
        </p:spPr>
      </p:sp>
      <p:sp>
        <p:nvSpPr>
          <p:cNvPr id="7" name="Text 3"/>
          <p:cNvSpPr/>
          <p:nvPr/>
        </p:nvSpPr>
        <p:spPr>
          <a:xfrm>
            <a:off x="548640" y="55778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Estrusi: Fonzies/Cipster a €13,43/kg vs PL €6,99. Gap +92%. Un new entrant a €10/kg con claim 'estruso adulto' eroderebbe entrambi.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5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Capitolo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Flavour come Leva Strategica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cresce, chi cala</a:t>
            </a:r>
            <a:endParaRPr lang="en-US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Crescita per Macro Gusto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BBQ -7%, Pizza -12%: i classici cedono. Herb +12,7%, Sweet +62%: gli esplorativi vincono.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80160"/>
            <a:ext cx="713232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1280160"/>
            <a:ext cx="4114800" cy="4114800"/>
          </a:xfrm>
          <a:prstGeom prst="roundRect">
            <a:avLst>
              <a:gd name="adj" fmla="val 1778"/>
            </a:avLst>
          </a:prstGeom>
          <a:solidFill>
            <a:srgbClr val="EBE7DA"/>
          </a:solidFill>
          <a:ln/>
        </p:spPr>
      </p:sp>
      <p:sp>
        <p:nvSpPr>
          <p:cNvPr id="6" name="Text 3"/>
          <p:cNvSpPr/>
          <p:nvPr/>
        </p:nvSpPr>
        <p:spPr>
          <a:xfrm>
            <a:off x="7955280" y="1417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FLAVOUR STRATEGY 2026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955280" y="1737360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CRESCONO: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Herb +12,7% (rosmarino, timo)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Bacon +13,0%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Salt &amp; Vinegar +18,3%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Sweet +62,0% (caramel, miele)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CALANO: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BBQ -7,0%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Pizza -12,3%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Fish -34,9%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portfolio Pringles è sbilanciato sui classici (Original, Paprika, Cheese) che sono flat o in calo.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5577840"/>
            <a:ext cx="11430000" cy="685800"/>
          </a:xfrm>
          <a:prstGeom prst="roundRect">
            <a:avLst>
              <a:gd name="adj" fmla="val 13333"/>
            </a:avLst>
          </a:prstGeom>
          <a:solidFill>
            <a:srgbClr val="0A1628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55778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PIVOT: riallineare portfolio verso Herb, Sour Cream (+3,1%), limited edition Sweet. Abbandonare BBQ e Pizza.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5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Spicy/Hot: Pringles -14,2% nel flavour più conteso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Carlo Più Gusto domina con €59M, PL spicy +29,5%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80160"/>
            <a:ext cx="7132320" cy="4114800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280160"/>
          <a:ext cx="41148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325880"/>
                <a:gridCol w="13258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YoY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 CARLO PIU GUSTO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LABEL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+29.5%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PRINGLES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-14.2%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DORITOS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AMICA CHIPS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+4.6%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-15.6%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WACKOS BLACKS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+3.4%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5577840"/>
            <a:ext cx="11430000" cy="685800"/>
          </a:xfrm>
          <a:prstGeom prst="roundRect">
            <a:avLst>
              <a:gd name="adj" fmla="val 13333"/>
            </a:avLst>
          </a:prstGeom>
          <a:solidFill>
            <a:srgbClr val="8B1A1A"/>
          </a:solidFill>
          <a:ln/>
        </p:spPr>
      </p:sp>
      <p:sp>
        <p:nvSpPr>
          <p:cNvPr id="7" name="Text 3"/>
          <p:cNvSpPr/>
          <p:nvPr/>
        </p:nvSpPr>
        <p:spPr>
          <a:xfrm>
            <a:off x="548640" y="55778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ALLARME: Pringles perde il 14,2% nel flavour in più rapida crescita. SC Più Gusto €59M. Il canister non si presta al piccante.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5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Capitolo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 e Occasione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 Large Sharing al Multipack</a:t>
            </a:r>
            <a:endParaRPr lang="en-US" sz="3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Sharing -€34M, Multipack +€15M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consumo migra verso porzioni controllate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80160"/>
            <a:ext cx="713232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1280160"/>
            <a:ext cx="4114800" cy="4114800"/>
          </a:xfrm>
          <a:prstGeom prst="roundRect">
            <a:avLst>
              <a:gd name="adj" fmla="val 1778"/>
            </a:avLst>
          </a:prstGeom>
          <a:solidFill>
            <a:srgbClr val="EBE7DA"/>
          </a:solidFill>
          <a:ln/>
        </p:spPr>
      </p:sp>
      <p:sp>
        <p:nvSpPr>
          <p:cNvPr id="6" name="Text 3"/>
          <p:cNvSpPr/>
          <p:nvPr/>
        </p:nvSpPr>
        <p:spPr>
          <a:xfrm>
            <a:off x="7955280" y="1417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MIGRATION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955280" y="1737360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Sharing: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€1.599M (-2,1%) — il formato dominante perde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Multipack: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€320M (+5,0%) — lunchbox, famiglia, porzione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Serve: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€121M (+5,1%) — impulso, on-the-go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Pringles è ASSENTE dal multipack dove Fonzies ha il 25,7%. Gap strategico #1.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5577840"/>
            <a:ext cx="11430000" cy="685800"/>
          </a:xfrm>
          <a:prstGeom prst="roundRect">
            <a:avLst>
              <a:gd name="adj" fmla="val 13333"/>
            </a:avLst>
          </a:prstGeom>
          <a:solidFill>
            <a:srgbClr val="1B7A3D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55778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STRATEGICO: Pringles Minis multipack è la risposta naturale. 6×40g con 3 flavour misti. Target €8-12M Y1.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5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Multipack: Fonzies 25,7% + Cipster 14,9% = Mondelez 40,6%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Pringles è completamente assente dal formato in crescita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80160"/>
            <a:ext cx="7132320" cy="4114800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280160"/>
          <a:ext cx="41148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883920"/>
                <a:gridCol w="883920"/>
                <a:gridCol w="8839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YoY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FONZIES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LABEL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+9.4%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SAIWA CIPSTER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+3.6%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 CARLO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+2.7%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 CARLO ANTICA RICETTA 1936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+3.1%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AMICA CHIPS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 CARLO DIXI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+10.5%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 CARLO PIU GUSTO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5577840"/>
            <a:ext cx="11430000" cy="685800"/>
          </a:xfrm>
          <a:prstGeom prst="roundRect">
            <a:avLst>
              <a:gd name="adj" fmla="val 13333"/>
            </a:avLst>
          </a:prstGeom>
          <a:solidFill>
            <a:srgbClr val="8B1A1A"/>
          </a:solidFill>
          <a:ln/>
        </p:spPr>
      </p:sp>
      <p:sp>
        <p:nvSpPr>
          <p:cNvPr id="7" name="Text 3"/>
          <p:cNvSpPr/>
          <p:nvPr/>
        </p:nvSpPr>
        <p:spPr>
          <a:xfrm>
            <a:off x="548640" y="55778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Fonzies €82M + Cipster €48M = Mondelez 40,6%. San Carlo ~25,6%. PL +9,4%. Pringles: ZERO presenza.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5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Capitolo 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Vegetable Chips +34,1%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Segmento del Futuro</a:t>
            </a:r>
            <a:endParaRPr lang="en-US" sz="3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Vegetable Chips — La Più Grande Opportunità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€53,7M | San Carlo Veggy Good +87,9% crescita più veloce del segmento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80160"/>
            <a:ext cx="7132320" cy="4114800"/>
          </a:xfrm>
          <a:prstGeom prst="rect">
            <a:avLst/>
          </a:prstGeom>
        </p:spPr>
      </p:pic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280160"/>
          <a:ext cx="41148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883920"/>
                <a:gridCol w="883920"/>
                <a:gridCol w="8839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Quota%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YoY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LABEL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+21.2%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SARCHIO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+9.8%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CIPSTER CHIPS DI LENTICCHIE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-7.4%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 CARLO VEGGY GOOD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+87.9%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FIORENTINI SNICK SNACK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-8.8%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UNBRANDED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+631765.8%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FIORENTINI LE TOSCANACCE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+47.6%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SNACK ITALY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+34.1%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5577840"/>
            <a:ext cx="11430000" cy="685800"/>
          </a:xfrm>
          <a:prstGeom prst="roundRect">
            <a:avLst>
              <a:gd name="adj" fmla="val 13333"/>
            </a:avLst>
          </a:prstGeom>
          <a:solidFill>
            <a:srgbClr val="1B7A3D"/>
          </a:solidFill>
          <a:ln/>
        </p:spPr>
      </p:sp>
      <p:sp>
        <p:nvSpPr>
          <p:cNvPr id="7" name="Text 3"/>
          <p:cNvSpPr/>
          <p:nvPr/>
        </p:nvSpPr>
        <p:spPr>
          <a:xfrm>
            <a:off x="548640" y="55778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Veggy Good +87,9% = lancio top. Cipster Lenticchie -7,4% = brand extension FALLISCE. Serve sub-brand dedicato.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5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Cipster Lenticchie -7,4%: il brand indulgence esteso alla salute non funziona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Lezioni per l'innovazione veggy Kellanova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73152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€54M (+34,1%), prezzo €25,78/kg (+8,6%). Crescita 50x la media.
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 solo 11,6% — il consumatore vuole MARCA e CLAIM. Terreno perfetto.
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Carlo Veggy Good (+87,9%): big player CON distribuzione PUÒ vincere.
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Cipster Lenticchie (-7,4%): 'fun/bambino' esteso al salutistico perde credibilità.
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Fiorentini Toscanacce (+47,6%) con nome regionale. Snick Snack veggy (-8,8%) con generico.
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Provocazione Pringles Veggy: SÌ, ma SOLO con sub-brand dedicato.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046720" y="1280160"/>
            <a:ext cx="3840480" cy="4114800"/>
          </a:xfrm>
          <a:prstGeom prst="roundRect">
            <a:avLst>
              <a:gd name="adj" fmla="val 1905"/>
            </a:avLst>
          </a:prstGeom>
          <a:solidFill>
            <a:srgbClr val="EBE7D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RACCOMANDAZIONE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173736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standalone Kellanova: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Posizionamento: legumi, patata dolce, barbabietola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Formato: bag (non canister)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Prezzo: €20-25/kg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NON Pringles-branded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€3-5M Y1 nel segmento veggy (5-10% share)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5577840"/>
            <a:ext cx="11430000" cy="685800"/>
          </a:xfrm>
          <a:prstGeom prst="roundRect">
            <a:avLst>
              <a:gd name="adj" fmla="val 13333"/>
            </a:avLst>
          </a:prstGeom>
          <a:solidFill>
            <a:srgbClr val="1B7A3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55778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L'opportunità: brand standalone Kellanova su legumi e patata dolce. NON 'Pringles Veggy'. Target €3-5M anno 1.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5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Capitolo 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Corn Chips / Tortilla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€163M con PL al 50,8%</a:t>
            </a:r>
            <a:endParaRPr lang="en-US" sz="3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Corn Chips: Santa Maria +54,2% dove la PL non innova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 50,8% flat, Doritos unico brand strutturato (17,8%)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80160"/>
            <a:ext cx="7132320" cy="4114800"/>
          </a:xfrm>
          <a:prstGeom prst="rect">
            <a:avLst/>
          </a:prstGeom>
        </p:spPr>
      </p:pic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280160"/>
          <a:ext cx="41148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883920"/>
                <a:gridCol w="883920"/>
                <a:gridCol w="8839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YoY 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LABEL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DORITOS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-4.2%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PATA PAQUITA CROCK CANYON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-14.7%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SABOR NACHO CHIPS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-1.3%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 CARLO PICADORA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-20.8%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AMICA CHIPS NATURAL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-39.9%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SANTA MARIA TORTILLA CHIPS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0C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+54.2%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1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5577840"/>
            <a:ext cx="11430000" cy="685800"/>
          </a:xfrm>
          <a:prstGeom prst="roundRect">
            <a:avLst>
              <a:gd name="adj" fmla="val 13333"/>
            </a:avLst>
          </a:prstGeom>
          <a:solidFill>
            <a:srgbClr val="1B7A3D"/>
          </a:solidFill>
          <a:ln/>
        </p:spPr>
      </p:sp>
      <p:sp>
        <p:nvSpPr>
          <p:cNvPr id="7" name="Text 3"/>
          <p:cNvSpPr/>
          <p:nvPr/>
        </p:nvSpPr>
        <p:spPr>
          <a:xfrm>
            <a:off x="548640" y="55778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Maria +54,2%: autenticità messicana + qualità = crescita rapida. Gap prezzo marca-PL +80%. Spazio per brand forte.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5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Capitolo 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Fiorentini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Italianità + Salute come Formula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Fiorentini: Toscanacce +47,6%, Romagnole da zero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naming regionale batte il generico. €18,8M (+9,1%)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73152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€18,8M (+9,1%) — crescita più alta tra player con scala
</a:t>
            </a:r>
            <a:pPr indent="0" marL="0">
              <a:buNone/>
            </a:pPr>
            <a:r>
              <a:rPr lang="en-US" sz="12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Toscanacce (veggy): +47,6% a €2,63M. Nome regionale + salute.
</a:t>
            </a:r>
            <a:pPr indent="0" marL="0">
              <a:buNone/>
            </a:pPr>
            <a:r>
              <a:rPr lang="en-US" sz="12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Snick Snack XXL (estrusi): +36,2%. Sharing adulto.
</a:t>
            </a:r>
            <a:pPr indent="0" marL="0">
              <a:buNone/>
            </a:pPr>
            <a:r>
              <a:rPr lang="en-US" sz="12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Romagnole (veggy): da zero a €0,19M. Espansione regionale.
</a:t>
            </a:r>
            <a:pPr indent="0" marL="0">
              <a:buNone/>
            </a:pPr>
            <a:r>
              <a:rPr lang="en-US" sz="12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 intensity: 7% — la più bassa. Non spende in promo, investe in claim.
</a:t>
            </a:r>
            <a:pPr indent="0" marL="0">
              <a:buNone/>
            </a:pPr>
            <a:r>
              <a:rPr lang="en-US" sz="12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Modello: italianità + salute + formato accessibile = crescita.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046720" y="1280160"/>
            <a:ext cx="3840480" cy="4114800"/>
          </a:xfrm>
          <a:prstGeom prst="roundRect">
            <a:avLst>
              <a:gd name="adj" fmla="val 1905"/>
            </a:avLst>
          </a:prstGeom>
          <a:solidFill>
            <a:srgbClr val="EBE7D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LEZIONE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173736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Fiorentini dimostra: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Il naming regionale (Toscanacce, Romagnole, Pugliesi) funziona meglio del generico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Promo intensity 7% — la più bassa dei top player. Cresce senza comprare volume.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Non serve il budget di un big player. Serve il claim giusto nel momento giusto.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Kellanova: l'innovazione non viene dal canister. Viene dal territorio e dal claim credibile.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5577840"/>
            <a:ext cx="11430000" cy="685800"/>
          </a:xfrm>
          <a:prstGeom prst="roundRect">
            <a:avLst>
              <a:gd name="adj" fmla="val 13333"/>
            </a:avLst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55778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Italianità + salute + naming regionale = formula. Il budget non è il vincolo — il claim lo è.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5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Raccomandazioni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Azioni per €16-25M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Crescita Incrementale</a:t>
            </a:r>
            <a:endParaRPr lang="en-US" sz="3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R1: Pringles Minis Multipack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PRIORITÀ ALTA | Q3 2026 | Target €8-12M anno 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D0D0D0">
                <a:alpha val="7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63040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
</a:t>
            </a: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Multipack 6×40g con 3 flavour misti (Original, Sour Cream, Paprika)
</a:t>
            </a:r>
            <a:pPr indent="0" marL="0">
              <a:buNone/>
            </a:pPr>
            <a:r>
              <a:rPr lang="en-US" sz="10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
</a:t>
            </a: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Famiglia con bambini 6-12 anni. Lunchbox, merenda, snacking controllato.
</a:t>
            </a:r>
            <a:pPr indent="0" marL="0">
              <a:buNone/>
            </a:pPr>
            <a:r>
              <a:rPr lang="en-US" sz="10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ADDRESSABLE MARKET
</a:t>
            </a: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€320M multipack (+5,0% YoY). Fonzies €82M (25,7%). Pringles: zero.
</a:t>
            </a:r>
            <a:pPr indent="0" marL="0">
              <a:buNone/>
            </a:pPr>
            <a:r>
              <a:rPr lang="en-US" sz="10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RAZIONALE
</a:t>
            </a: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canister mini preserva l'iconicità eliminando il vincolo dimensionale. Cross-selling con il brand core.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17920" y="1280160"/>
            <a:ext cx="5669280" cy="4114800"/>
          </a:xfrm>
          <a:prstGeom prst="roundRect">
            <a:avLst>
              <a:gd name="adj" fmla="val 1778"/>
            </a:avLst>
          </a:prstGeom>
          <a:solidFill>
            <a:srgbClr val="EBE7D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14173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ATTESI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0" y="1737360"/>
            <a:ext cx="53035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Revenue Y1: €8-12M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Share multipack: 2,5-3,8%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Cannibalizzazione: &lt;10% del core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Distribution target: 60% ACV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Promo plan: launch + trial, non deep TPR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COMPETIZIONE DIRETTA: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Fonzies €82M (Mondelez)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Cipster €48M (Mondelez)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San Carlo portfolio €82M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 €73M (+9,4%)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5577840"/>
            <a:ext cx="11430000" cy="685800"/>
          </a:xfrm>
          <a:prstGeom prst="roundRect">
            <a:avLst>
              <a:gd name="adj" fmla="val 13333"/>
            </a:avLst>
          </a:prstGeom>
          <a:solidFill>
            <a:srgbClr val="1B7A3D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55778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L'assenza di Pringles dal multipack è il gap strategico #1. Pringles Minis è la risposta naturale.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5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R2: Brand Veggy Standalone (non Pringles-branded)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PRIORITÀ ALTA | Q4 2026 | Target €3-5M anno 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D0D0D0">
                <a:alpha val="7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63040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
</a:t>
            </a: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Nuovo brand Kellanova. NON Pringles-branded. Naming con credibilità salutistica.
</a:t>
            </a:r>
            <a:pPr indent="0" marL="0">
              <a:buNone/>
            </a:pPr>
            <a:r>
              <a:rPr lang="en-US" sz="10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
</a:t>
            </a: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 100-150g. Ingredienti: lenticchie, ceci, patata dolce, barbabietola.
</a:t>
            </a:r>
            <a:pPr indent="0" marL="0">
              <a:buNone/>
            </a:pPr>
            <a:r>
              <a:rPr lang="en-US" sz="10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PREZZO
</a:t>
            </a: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€20-25/kg (premium ma sotto il leader Sarchio). PL a €19/kg = gap +30%.
</a:t>
            </a:r>
            <a:pPr indent="0" marL="0">
              <a:buNone/>
            </a:pPr>
            <a:r>
              <a:rPr lang="en-US" sz="1000" b="1" dirty="0">
                <a:solidFill>
                  <a:srgbClr val="D9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PERCHÉ NON PRINGLES
</a:t>
            </a: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Cipster Lenticchie -7,4%: brand extension indulgence→salute FALLISCE. Il claim veggy richiede credibilità propria.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17920" y="1280160"/>
            <a:ext cx="5669280" cy="4114800"/>
          </a:xfrm>
          <a:prstGeom prst="roundRect">
            <a:avLst>
              <a:gd name="adj" fmla="val 1778"/>
            </a:avLst>
          </a:prstGeom>
          <a:solidFill>
            <a:srgbClr val="EBE7D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14173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ATTESI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0" y="1737360"/>
            <a:ext cx="53035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Revenue Y1: €3-5M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Share veggy: 5-10%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Addressable: €54M (+34% annuo)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 share: solo 11,6% = spazio brand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STUDIES: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Veggy Good +87,9% (San Carlo)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Toscanacce +47,6% (Fiorentini)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Cipster Lenticchie -7,4% (Mondelez) ← WARNING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5577840"/>
            <a:ext cx="11430000" cy="685800"/>
          </a:xfrm>
          <a:prstGeom prst="roundRect">
            <a:avLst>
              <a:gd name="adj" fmla="val 13333"/>
            </a:avLst>
          </a:prstGeom>
          <a:solidFill>
            <a:srgbClr val="1B7A3D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55778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Veggy +34,1% con prezzo 3x e IN AUMENTO. PL solo 11,6%. Il consumatore vuole marca e claim.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5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R3: Pringles Tortilla Bag per l'aperitivo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PRIORITÀ MEDIA | H1 2027 | Target €5-8M anno 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114300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D0D0D0">
                <a:alpha val="7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63040"/>
            <a:ext cx="110642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FORMATO: </a:t>
            </a:r>
            <a:pPr indent="0" marL="0">
              <a:buNone/>
            </a:pPr>
            <a:r>
              <a:rPr lang="en-US" sz="12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 sharing 150-200g. Flavour autentici: lime &amp; coriander, smoky jalapeño, sea salt.
</a:t>
            </a:r>
            <a:pPr indent="0" marL="0">
              <a:buNone/>
            </a:pPr>
            <a:r>
              <a:rPr lang="en-US" sz="12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</a:t>
            </a:r>
            <a:pPr indent="0" marL="0">
              <a:buNone/>
            </a:pPr>
            <a:r>
              <a:rPr lang="en-US" sz="12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Adulto 18-35, aperitivo domestico, social sharing.
</a:t>
            </a:r>
            <a:pPr indent="0" marL="0">
              <a:buNone/>
            </a:pPr>
            <a:r>
              <a:rPr lang="en-US" sz="12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ADDRESSABLE: </a:t>
            </a:r>
            <a:pPr indent="0" marL="0">
              <a:buNone/>
            </a:pPr>
            <a:r>
              <a:rPr lang="en-US" sz="12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€163M corn chips. PL 50,8% da erodere. Doritos unico brand strutturato (17,8%).
</a:t>
            </a:r>
            <a:pPr indent="0" marL="0">
              <a:buNone/>
            </a:pPr>
            <a:r>
              <a:rPr lang="en-US" sz="12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SEGNALE: </a:t>
            </a:r>
            <a:pPr indent="0" marL="0">
              <a:buNone/>
            </a:pPr>
            <a:r>
              <a:rPr lang="en-US" sz="12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Maria +54,2% dimostra che autenticità + qualità vince. Gap prezzo marca-PL +80%.
</a:t>
            </a:r>
            <a:pPr indent="0" marL="0">
              <a:buNone/>
            </a:pPr>
            <a:r>
              <a:rPr lang="en-US" sz="12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CROSS-MERCH: </a:t>
            </a:r>
            <a:pPr indent="0" marL="0">
              <a:buNone/>
            </a:pPr>
            <a:r>
              <a:rPr lang="en-US" sz="12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Presidiare il reparto beverage per intercettare l'occasione aperitivo. Il momento snacking si sposta dal divano al tavolo.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5577840"/>
            <a:ext cx="11430000" cy="685800"/>
          </a:xfrm>
          <a:prstGeom prst="roundRect">
            <a:avLst>
              <a:gd name="adj" fmla="val 13333"/>
            </a:avLst>
          </a:prstGeom>
          <a:solidFill>
            <a:srgbClr val="1B7A3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5778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tortilla è il segmento più sottosviluppato: €163M con PL al 50,8% e zero innovazione. Santa Maria +54% mostra la via.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5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R4: Pivot Flavour + R5: Recovery Distribuzione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azioni trasversali per recuperare quota e competitività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D0D0D0">
                <a:alpha val="7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63040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R4 — PIVOT FLAVOUR [MEDIA, ONGOING]
</a:t>
            </a:r>
            <a:endParaRPr lang="en-US" sz="12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A8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AGGIUNGERE:
</a:t>
            </a:r>
            <a:pPr indent="0" marL="0">
              <a:buNone/>
            </a:pPr>
            <a:r>
              <a:rPr lang="en-US" sz="11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Herb: +12,7% (rosmarino, timo, origano)
• Sour Cream &amp; Onion: +3,1%
• Sweet limited edition: +62% (caramel)
• Bacon: +13,0%
</a:t>
            </a:r>
            <a:pPr indent="0" marL="0">
              <a:buNone/>
            </a:pPr>
            <a:r>
              <a:rPr lang="en-US" sz="1000" b="1" dirty="0">
                <a:solidFill>
                  <a:srgbClr val="D9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RIDURRE:
</a:t>
            </a:r>
            <a:pPr indent="0" marL="0">
              <a:buNone/>
            </a:pPr>
            <a:r>
              <a:rPr lang="en-US" sz="11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BBQ: -7,0%
• Pizza: -12,3%
• Fish: -34,9%
</a:t>
            </a:r>
            <a:pPr indent="0" marL="0">
              <a:buNone/>
            </a:pPr>
            <a:r>
              <a:rPr lang="en-US" sz="10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Pringles perde il 14,2% nello spicy dove SC Più Gusto domina.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0" y="1280160"/>
            <a:ext cx="566928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D0D0D0">
                <a:alpha val="7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0" y="1463040"/>
            <a:ext cx="53035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R5 — RECOVERY DISTRIBUZIONE [CRITICA, IMMEDIATA]
</a:t>
            </a:r>
            <a:endParaRPr lang="en-US" sz="1200" dirty="0"/>
          </a:p>
          <a:p>
            <a:pPr indent="0" marL="0">
              <a:buNone/>
            </a:pPr>
            <a:r>
              <a:rPr lang="en-US" sz="1000" b="1" dirty="0">
                <a:solidFill>
                  <a:srgbClr val="D9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PROBLEMA:
</a:t>
            </a:r>
            <a:pPr indent="0" marL="0">
              <a:buNone/>
            </a:pPr>
            <a:r>
              <a:rPr lang="en-US" sz="11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Kellanova distribuzione: -1,0pp
• San Carlo distribuzione: +2,1pp
• Pringles promo intensity: 31% (la più alta)
• San Carlo promo intensity: 10%
</a:t>
            </a:r>
            <a:pPr indent="0" marL="0">
              <a:buNone/>
            </a:pPr>
            <a:r>
              <a:rPr lang="en-US" sz="10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L'AZIONE:
</a:t>
            </a:r>
            <a:pPr indent="0" marL="0">
              <a:buNone/>
            </a:pPr>
            <a:r>
              <a:rPr lang="en-US" sz="11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Negoziazione insegna per insegna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Facing dedicato per novità (Minis, Tortilla)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Cross-merch con beverage nel reparto aperitivo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Ridurre TPR, aumentare event-led promo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5577840"/>
            <a:ext cx="11430000" cy="685800"/>
          </a:xfrm>
          <a:prstGeom prst="roundRect">
            <a:avLst>
              <a:gd name="adj" fmla="val 13333"/>
            </a:avLst>
          </a:prstGeom>
          <a:solidFill>
            <a:srgbClr val="8B1A1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55778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promo non compensa la distribuzione. San Carlo cresce con 10% promo e +2,1pp distribuzione. Pringles brucia margine con 31%.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65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categoria non è in crisi.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CC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 cambiando regole.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93192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intercetta salute, porzione e flavour cresce.
</a:t>
            </a:r>
            <a:pPr indent="0" marL="0">
              <a:buNone/>
            </a:pPr>
            <a:r>
              <a:rPr lang="en-US" sz="16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resta sul canister e il gusto classico perde.
</a:t>
            </a:r>
            <a:pPr indent="0" marL="0">
              <a:buNone/>
            </a:pPr>
            <a:r>
              <a:rPr lang="en-US" sz="1600" b="1" dirty="0">
                <a:solidFill>
                  <a:srgbClr val="00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L'opportunità 2026 vale €16-25M di crescita incrementale.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NielsenIQ RMS Italy | Basquio Intelligence Engine |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2026-04-16T13:24:04Z</dcterms:created>
  <dcterms:modified xsi:type="dcterms:W3CDTF">2026-04-16T13:24:04Z</dcterms:modified>
</cp:coreProperties>
</file>